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</a:rPr>
              <a:t>Robomituba 주간 경과보고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발표일: 2026-04-20 | 정리 기간: 2026-04-11 ~ 2026-04-19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Isaac Sim -&gt; daemon -&gt; Mitsuba 파이프라인의 기본 골격을 저장소에 구축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MooreLane 대형 씬에서 load / connect / sync / material override / render 경로를 반복 검증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주 후반에는 same-scene 반복 렌더 병목을 줄이기 위한 세션/캐시 최적화에 집중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417320"/>
            <a:ext cx="47548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7830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4/14: init commit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4/15~4/16: 실기 로그/세션 산출물 축적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4/17: 데몬 대시보드 UI + 최적화 문서화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4/18~4/19: 미커밋 최적화/재질 UX 고도화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</a:rPr>
              <a:t>주간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커밋, 텔레메트리, 문서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4/11~4/13: 저장소 안에서 확인 가능한 커밋 증거는 없음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4/14: 브리지 계약, 멀티모달 렌더러, daemon, Isaac extension 기본 구조를 한번에 추가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4/15~4/16: MooreLane huge scene 대상 반복 세션 실행과 bridge_jobs 산출물 생성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4/17: 데몬 대시보드 UI 확장, BRDF/Isaac guide/최적화 문서 추가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4/18~4/19: same-scene cache, partial sync, material preview, dataset auto-download 작업 진행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</a:rPr>
              <a:t>완료된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이번 주 기준 구현/검증 완료로 볼 수 있는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Isaac stage capture -&gt; bridge contract -&gt; Mitsuba render 기본 경로 구축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scene catalog / session connect / state sync / observation bundle 저장 흐름 연결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control plane 기본 UI와 scene detail 운영 화면 확장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MooreLane 대형 씬에서 실제 load/sync/material override 실행 로그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병목 분석 문서와 최적화 상태 문서 작성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BRDF / polarization / NIR 데이터셋 우선순위 가이드 정리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Isaac Sim 가이드 한글/영문 문서 추가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Ranger Mini 관련 자산 및 코드베이스 확장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</a:rPr>
              <a:t>실기 로그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out/control_plane_cache/isaac_command_telemetry.jsonl 집계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Telemetry Rows</a:t>
            </a:r>
          </a:p>
          <a:p>
            <a:r>
              <a:rPr sz="2200" b="1">
                <a:solidFill>
                  <a:srgbClr val="2463EB"/>
                </a:solidFill>
              </a:rPr>
              <a:t>1200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3716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148132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Connect Success</a:t>
            </a:r>
          </a:p>
          <a:p>
            <a:r>
              <a:rPr sz="2200" b="1">
                <a:solidFill>
                  <a:srgbClr val="16A34A"/>
                </a:solidFill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3716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93792" y="148132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Sync Success</a:t>
            </a:r>
          </a:p>
          <a:p>
            <a:r>
              <a:rPr sz="2200" b="1">
                <a:solidFill>
                  <a:srgbClr val="16A34A"/>
                </a:solidFill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3716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2" y="148132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Load Success</a:t>
            </a:r>
          </a:p>
          <a:p>
            <a:r>
              <a:rPr sz="2200" b="1">
                <a:solidFill>
                  <a:srgbClr val="16A34A"/>
                </a:solidFill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3716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91472" y="148132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Render Success</a:t>
            </a:r>
          </a:p>
          <a:p>
            <a:r>
              <a:rPr sz="2200" b="1">
                <a:solidFill>
                  <a:srgbClr val="D97706"/>
                </a:solidFill>
              </a:rPr>
              <a:t>2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972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날짜별 row 수: 4/15 373, 4/16 554, 4/17 273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평균 소요시간: load_scene 45.82s, connect_session 8.05s, sync_session 12.09s, apply_material_override 3.19s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MooreLane scene 메타데이터: size_tier = huge, asset_file_count = 2332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해석: 연결과 sync는 반복 가능 단계, render_current_view는 아직 안정화와 성능 개선이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</a:rPr>
              <a:t>현재 거의 완성된 진행 중 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커밋 전 워킹트리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same-scene 반복 렌더 최적화: XML parse cache, branch template cache, resident scene cache, signature cache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full sync -&gt; partial sync 전환: camera_only / material_delta / full_resync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blocking render를 daemon queue worker 경로로 단일화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재질 UX 강화: sphere preview, measured material fallback preview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dataset auto-download API / UI 추가</a:t>
            </a:r>
          </a:p>
          <a:p>
            <a:pPr>
              <a:spcAft>
                <a:spcPts val="800"/>
              </a:spcAft>
              <a:defRPr sz="1800">
                <a:solidFill>
                  <a:srgbClr val="101828"/>
                </a:solidFill>
              </a:defRPr>
            </a:pPr>
            <a:r>
              <a:t>• settings/언어 분리 UI와 telemetry timing summary 확장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</a:rPr>
              <a:t>이번 주 위치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무엇이 끝났고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01828"/>
                </a:solidFill>
              </a:defRPr>
            </a:pPr>
            <a:r>
              <a:t>• 파이프라인 골격 구축: 완료</a:t>
            </a:r>
          </a:p>
          <a:p>
            <a:pPr>
              <a:spcAft>
                <a:spcPts val="800"/>
              </a:spcAft>
              <a:defRPr sz="2200">
                <a:solidFill>
                  <a:srgbClr val="101828"/>
                </a:solidFill>
              </a:defRPr>
            </a:pPr>
            <a:r>
              <a:t>• 실제 씬 기반 연동 검증: 완료</a:t>
            </a:r>
          </a:p>
          <a:p>
            <a:pPr>
              <a:spcAft>
                <a:spcPts val="800"/>
              </a:spcAft>
              <a:defRPr sz="2200">
                <a:solidFill>
                  <a:srgbClr val="101828"/>
                </a:solidFill>
              </a:defRPr>
            </a:pPr>
            <a:r>
              <a:t>• 운영 UI 확장: 크게 진행됨</a:t>
            </a:r>
          </a:p>
          <a:p>
            <a:pPr>
              <a:spcAft>
                <a:spcPts val="800"/>
              </a:spcAft>
              <a:defRPr sz="2200">
                <a:solidFill>
                  <a:srgbClr val="101828"/>
                </a:solidFill>
              </a:defRPr>
            </a:pPr>
            <a:r>
              <a:t>• 반복 렌더 병목 원인 분석: 완료</a:t>
            </a:r>
          </a:p>
          <a:p>
            <a:pPr>
              <a:spcAft>
                <a:spcPts val="800"/>
              </a:spcAft>
              <a:defRPr sz="2200">
                <a:solidFill>
                  <a:srgbClr val="101828"/>
                </a:solidFill>
              </a:defRPr>
            </a:pPr>
            <a:r>
              <a:t>• same-scene 최적화 구현: 상당 부분 진행</a:t>
            </a:r>
          </a:p>
          <a:p>
            <a:pPr>
              <a:spcAft>
                <a:spcPts val="800"/>
              </a:spcAft>
              <a:defRPr sz="2200">
                <a:solidFill>
                  <a:srgbClr val="101828"/>
                </a:solidFill>
              </a:defRPr>
            </a:pPr>
            <a:r>
              <a:t>• 최종 안정화와 정량 성능 비교: 다음 단계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</a:rPr>
              <a:t>다음 액션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4월 20일 미팅 이후 바로 이어갈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same-scene 반복 렌더 전/후 성능 비교표 작성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render_current_view 실패 유형 정리와 성공률 개선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partial sync 대비 full sync의 실제 이득 계측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settings/material UX 변경분을 커밋 단위로 정리</a:t>
            </a:r>
          </a:p>
          <a:p>
            <a:pPr>
              <a:spcAft>
                <a:spcPts val="800"/>
              </a:spcAft>
              <a:defRPr sz="2000">
                <a:solidFill>
                  <a:srgbClr val="101828"/>
                </a:solidFill>
              </a:defRPr>
            </a:pPr>
            <a:r>
              <a:t>• 다음 보고에서는 성능 수치와 안정성 지표를 함께 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